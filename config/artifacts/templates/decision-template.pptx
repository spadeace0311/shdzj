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ision-cover"/>
          <p:cNvSpPr txBox="1"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E28"/>
                </a:solidFill>
                <a:latin typeface="Noto Sans CJK SC"/>
              </a:rP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E28"/>
                </a:solidFill>
                <a:latin typeface="Noto Sans CJK SC"/>
              </a:rPr>
              <a:t>辅助决策报告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41E28"/>
                </a:solidFill>
                <a:latin typeface="Noto Sans CJK SC"/>
              </a:rP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4553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41E28"/>
                </a:solidFill>
                <a:latin typeface="Noto Sans CJK SC"/>
              </a:rPr>
              <a:t>{{event_name}}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0390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41E28"/>
                </a:solidFill>
                <a:latin typeface="Noto Sans CJK SC"/>
              </a:rPr>
              <a:t>{{origin_time}}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622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41E28"/>
                </a:solidFill>
                <a:latin typeface="Noto Sans CJK SC"/>
              </a:rPr>
              <a:t>{{magnitude}}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39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41E28"/>
                </a:solidFill>
                <a:latin typeface="Noto Sans CJK SC"/>
              </a:rPr>
              <a:t>{{quality_grade}}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7900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41E28"/>
                </a:solidFill>
                <a:latin typeface="Noto Sans CJK SC"/>
              </a:rPr>
              <a:t>{{mode_marker}}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ision-event_facts"/>
          <p:cNvSpPr txBox="1"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E28"/>
                </a:solidFill>
                <a:latin typeface="Noto Sans CJK SC"/>
              </a:rPr>
              <a:t>事件参数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{{event_facts}}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ision-response_recommendation"/>
          <p:cNvSpPr txBox="1"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E28"/>
                </a:solidFill>
                <a:latin typeface="Noto Sans CJK SC"/>
              </a:rPr>
              <a:t>响应建议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{{recommendation}}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ision-fused_intensity"/>
          <p:cNvSpPr txBox="1"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E28"/>
                </a:solidFill>
                <a:latin typeface="Noto Sans CJK SC"/>
              </a:rPr>
              <a:t>融合烈度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{{intensity}}</a:t>
            </a:r>
          </a:p>
        </p:txBody>
      </p:sp>
      <p:sp>
        <p:nvSpPr>
          <p:cNvPr id="4" name="decision-image-map.intensity"/>
          <p:cNvSpPr txBox="1"/>
          <p:nvPr/>
        </p:nvSpPr>
        <p:spPr>
          <a:xfrm>
            <a:off x="4114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{{image:map.intensity}}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ision-casualties_building_damage"/>
          <p:cNvSpPr txBox="1"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E28"/>
                </a:solidFill>
                <a:latin typeface="Noto Sans CJK SC"/>
              </a:rPr>
              <a:t>伤亡与房屋破坏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{{casualties}}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8424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{{buildings}}</a:t>
            </a:r>
          </a:p>
        </p:txBody>
      </p:sp>
      <p:sp>
        <p:nvSpPr>
          <p:cNvPr id="5" name="decision-image-map.deaths"/>
          <p:cNvSpPr txBox="1"/>
          <p:nvPr/>
        </p:nvSpPr>
        <p:spPr>
          <a:xfrm>
            <a:off x="4114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{{image:map.deaths}}</a:t>
            </a:r>
          </a:p>
        </p:txBody>
      </p:sp>
      <p:sp>
        <p:nvSpPr>
          <p:cNvPr id="6" name="decision-image-map.injuries"/>
          <p:cNvSpPr txBox="1"/>
          <p:nvPr/>
        </p:nvSpPr>
        <p:spPr>
          <a:xfrm>
            <a:off x="40690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{{image:map.injuries}}</a:t>
            </a:r>
          </a:p>
        </p:txBody>
      </p:sp>
      <p:sp>
        <p:nvSpPr>
          <p:cNvPr id="7" name="decision-image-map.building_damage"/>
          <p:cNvSpPr txBox="1"/>
          <p:nvPr/>
        </p:nvSpPr>
        <p:spPr>
          <a:xfrm>
            <a:off x="77266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{{image:map.building_damage}}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ision-economic_resource_demand"/>
          <p:cNvSpPr txBox="1"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E28"/>
                </a:solidFill>
                <a:latin typeface="Noto Sans CJK SC"/>
              </a:rPr>
              <a:t>经济与资源需求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{{economy}}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8424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{{resources}}</a:t>
            </a:r>
          </a:p>
        </p:txBody>
      </p:sp>
      <p:sp>
        <p:nvSpPr>
          <p:cNvPr id="5" name="decision-image-map.economic_loss"/>
          <p:cNvSpPr txBox="1"/>
          <p:nvPr/>
        </p:nvSpPr>
        <p:spPr>
          <a:xfrm>
            <a:off x="4114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{{image:map.economic_loss}}</a:t>
            </a:r>
          </a:p>
        </p:txBody>
      </p:sp>
      <p:sp>
        <p:nvSpPr>
          <p:cNvPr id="6" name="decision-image-map.rescue_demand"/>
          <p:cNvSpPr txBox="1"/>
          <p:nvPr/>
        </p:nvSpPr>
        <p:spPr>
          <a:xfrm>
            <a:off x="40690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{{image:map.rescue_demand}}</a:t>
            </a:r>
          </a:p>
        </p:txBody>
      </p:sp>
      <p:sp>
        <p:nvSpPr>
          <p:cNvPr id="7" name="decision-image-map.material_demand"/>
          <p:cNvSpPr txBox="1"/>
          <p:nvPr/>
        </p:nvSpPr>
        <p:spPr>
          <a:xfrm>
            <a:off x="77266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{{image:map.material_demand}}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ision-key_targets_faults"/>
          <p:cNvSpPr txBox="1"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E28"/>
                </a:solidFill>
                <a:latin typeface="Noto Sans CJK SC"/>
              </a:rPr>
              <a:t>重点目标与断裂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{{key_targets}}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8424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{{faults}}</a:t>
            </a:r>
          </a:p>
        </p:txBody>
      </p:sp>
      <p:sp>
        <p:nvSpPr>
          <p:cNvPr id="5" name="decision-image-map.key_targets"/>
          <p:cNvSpPr txBox="1"/>
          <p:nvPr/>
        </p:nvSpPr>
        <p:spPr>
          <a:xfrm>
            <a:off x="4114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{{image:map.key_targets}}</a:t>
            </a:r>
          </a:p>
        </p:txBody>
      </p:sp>
      <p:sp>
        <p:nvSpPr>
          <p:cNvPr id="6" name="decision-image-map.active_faults"/>
          <p:cNvSpPr txBox="1"/>
          <p:nvPr/>
        </p:nvSpPr>
        <p:spPr>
          <a:xfrm>
            <a:off x="40690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{{image:map.active_faults}}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ision-spatial_distance_conclusions"/>
          <p:cNvSpPr txBox="1"/>
          <p:nvPr/>
        </p:nvSpPr>
        <p:spPr>
          <a:xfrm>
            <a:off x="640080" y="256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1E28"/>
                </a:solidFill>
                <a:latin typeface="Noto Sans CJK SC"/>
              </a:rPr>
              <a:t>空间距离与结论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{{spatial_conclusions}}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8424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{{source_versions}}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426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{{degradation_reasons}}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8"/>
                </a:solidFill>
                <a:latin typeface="Noto Sans CJK SC"/>
              </a:rPr>
              <a:t>{{needs_review}}</a:t>
            </a:r>
          </a:p>
        </p:txBody>
      </p:sp>
      <p:sp>
        <p:nvSpPr>
          <p:cNvPr id="7" name="decision-image-map.epicenter"/>
          <p:cNvSpPr txBox="1"/>
          <p:nvPr/>
        </p:nvSpPr>
        <p:spPr>
          <a:xfrm>
            <a:off x="4114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{{image:map.epicenter}}</a:t>
            </a:r>
          </a:p>
        </p:txBody>
      </p:sp>
      <p:sp>
        <p:nvSpPr>
          <p:cNvPr id="8" name="decision-image-map.city_distances"/>
          <p:cNvSpPr txBox="1"/>
          <p:nvPr/>
        </p:nvSpPr>
        <p:spPr>
          <a:xfrm>
            <a:off x="40690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{{image:map.city_distances}}</a:t>
            </a:r>
          </a:p>
        </p:txBody>
      </p:sp>
      <p:sp>
        <p:nvSpPr>
          <p:cNvPr id="9" name="decision-image-map.buried"/>
          <p:cNvSpPr txBox="1"/>
          <p:nvPr/>
        </p:nvSpPr>
        <p:spPr>
          <a:xfrm>
            <a:off x="7726680" y="3703320"/>
            <a:ext cx="349300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787878"/>
                </a:solidFill>
                <a:latin typeface="Noto Sans CJK SC"/>
              </a:rPr>
              <a:t>{{image:map.buried}}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